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22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BUNOLUWASIMI\OneDrive\Desktop\HNG%20Internship\Data%20Analyst%20track\Task%200\Financial%20Sample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Sample.xlsx]Sheet4!PivotTable5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Gross</a:t>
            </a:r>
            <a:r>
              <a:rPr lang="en-US" sz="1200" baseline="0"/>
              <a:t> Revenue and Net Profit by Discount Band</a:t>
            </a:r>
            <a:endParaRPr lang="en-US" sz="120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Sheet4!$B$3</c:f>
              <c:strCache>
                <c:ptCount val="1"/>
                <c:pt idx="0">
                  <c:v>Gross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Sheet4!$A$4:$A$8</c:f>
              <c:strCache>
                <c:ptCount val="4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  <c:pt idx="3">
                  <c:v>None</c:v>
                </c:pt>
              </c:strCache>
            </c:strRef>
          </c:cat>
          <c:val>
            <c:numRef>
              <c:f>Sheet4!$B$4:$B$8</c:f>
              <c:numCache>
                <c:formatCode>General</c:formatCode>
                <c:ptCount val="4"/>
                <c:pt idx="0">
                  <c:v>42689513</c:v>
                </c:pt>
                <c:pt idx="1">
                  <c:v>35515454.5</c:v>
                </c:pt>
                <c:pt idx="2">
                  <c:v>41782977</c:v>
                </c:pt>
                <c:pt idx="3">
                  <c:v>7943654</c:v>
                </c:pt>
              </c:numCache>
            </c:numRef>
          </c:val>
        </c:ser>
        <c:ser>
          <c:idx val="1"/>
          <c:order val="1"/>
          <c:tx>
            <c:strRef>
              <c:f>Sheet4!$C$3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Sheet4!$A$4:$A$8</c:f>
              <c:strCache>
                <c:ptCount val="4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  <c:pt idx="3">
                  <c:v>None</c:v>
                </c:pt>
              </c:strCache>
            </c:strRef>
          </c:cat>
          <c:val>
            <c:numRef>
              <c:f>Sheet4!$C$4:$C$8</c:f>
              <c:numCache>
                <c:formatCode>General</c:formatCode>
                <c:ptCount val="4"/>
                <c:pt idx="0">
                  <c:v>3388866.7250000001</c:v>
                </c:pt>
                <c:pt idx="1">
                  <c:v>6188857.7000000011</c:v>
                </c:pt>
                <c:pt idx="2">
                  <c:v>5579522.8349999972</c:v>
                </c:pt>
                <c:pt idx="3">
                  <c:v>1736455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8659280"/>
        <c:axId val="428662024"/>
      </c:barChart>
      <c:catAx>
        <c:axId val="428659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8662024"/>
        <c:crosses val="autoZero"/>
        <c:auto val="1"/>
        <c:lblAlgn val="ctr"/>
        <c:lblOffset val="100"/>
        <c:noMultiLvlLbl val="0"/>
      </c:catAx>
      <c:valAx>
        <c:axId val="428662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8659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Sample.xlsx]Sheet4!PivotTable6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Quantity</a:t>
            </a:r>
            <a:r>
              <a:rPr lang="en-US" sz="1200" baseline="0"/>
              <a:t> Sold By Discount Band</a:t>
            </a:r>
            <a:endParaRPr lang="en-US" sz="120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Sheet4!$H$3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Sheet4!$G$4:$G$8</c:f>
              <c:strCache>
                <c:ptCount val="4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  <c:pt idx="3">
                  <c:v>None</c:v>
                </c:pt>
              </c:strCache>
            </c:strRef>
          </c:cat>
          <c:val>
            <c:numRef>
              <c:f>Sheet4!$H$4:$H$8</c:f>
              <c:numCache>
                <c:formatCode>General</c:formatCode>
                <c:ptCount val="4"/>
                <c:pt idx="0">
                  <c:v>398085.5</c:v>
                </c:pt>
                <c:pt idx="1">
                  <c:v>261858.5</c:v>
                </c:pt>
                <c:pt idx="2">
                  <c:v>379698.5</c:v>
                </c:pt>
                <c:pt idx="3">
                  <c:v>86163.5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Sample.xlsx]Sheet3!PivotTable1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Gross</a:t>
            </a:r>
            <a:r>
              <a:rPr lang="en-US" sz="1200" baseline="0"/>
              <a:t> Sales by Country and Segment</a:t>
            </a:r>
            <a:endParaRPr lang="en-US" sz="120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Sheet3!$A$4:$A$34</c:f>
              <c:multiLvlStrCache>
                <c:ptCount val="25"/>
                <c:lvl>
                  <c:pt idx="0">
                    <c:v>Channel Partners</c:v>
                  </c:pt>
                  <c:pt idx="1">
                    <c:v>Enterprise</c:v>
                  </c:pt>
                  <c:pt idx="2">
                    <c:v>Government</c:v>
                  </c:pt>
                  <c:pt idx="3">
                    <c:v>Midmarket</c:v>
                  </c:pt>
                  <c:pt idx="4">
                    <c:v>Small Business</c:v>
                  </c:pt>
                  <c:pt idx="5">
                    <c:v>Channel Partners</c:v>
                  </c:pt>
                  <c:pt idx="6">
                    <c:v>Enterprise</c:v>
                  </c:pt>
                  <c:pt idx="7">
                    <c:v>Government</c:v>
                  </c:pt>
                  <c:pt idx="8">
                    <c:v>Midmarket</c:v>
                  </c:pt>
                  <c:pt idx="9">
                    <c:v>Small Business</c:v>
                  </c:pt>
                  <c:pt idx="10">
                    <c:v>Channel Partners</c:v>
                  </c:pt>
                  <c:pt idx="11">
                    <c:v>Enterprise</c:v>
                  </c:pt>
                  <c:pt idx="12">
                    <c:v>Government</c:v>
                  </c:pt>
                  <c:pt idx="13">
                    <c:v>Midmarket</c:v>
                  </c:pt>
                  <c:pt idx="14">
                    <c:v>Small Business</c:v>
                  </c:pt>
                  <c:pt idx="15">
                    <c:v>Channel Partners</c:v>
                  </c:pt>
                  <c:pt idx="16">
                    <c:v>Enterprise</c:v>
                  </c:pt>
                  <c:pt idx="17">
                    <c:v>Government</c:v>
                  </c:pt>
                  <c:pt idx="18">
                    <c:v>Midmarket</c:v>
                  </c:pt>
                  <c:pt idx="19">
                    <c:v>Small Business</c:v>
                  </c:pt>
                  <c:pt idx="20">
                    <c:v>Channel Partners</c:v>
                  </c:pt>
                  <c:pt idx="21">
                    <c:v>Enterprise</c:v>
                  </c:pt>
                  <c:pt idx="22">
                    <c:v>Government</c:v>
                  </c:pt>
                  <c:pt idx="23">
                    <c:v>Midmarket</c:v>
                  </c:pt>
                  <c:pt idx="24">
                    <c:v>Small Business</c:v>
                  </c:pt>
                </c:lvl>
                <c:lvl>
                  <c:pt idx="0">
                    <c:v>Canada</c:v>
                  </c:pt>
                  <c:pt idx="5">
                    <c:v>France</c:v>
                  </c:pt>
                  <c:pt idx="10">
                    <c:v>Germany</c:v>
                  </c:pt>
                  <c:pt idx="15">
                    <c:v>Mexico</c:v>
                  </c:pt>
                  <c:pt idx="20">
                    <c:v>United States of America</c:v>
                  </c:pt>
                </c:lvl>
              </c:multiLvlStrCache>
            </c:multiLvlStrRef>
          </c:cat>
          <c:val>
            <c:numRef>
              <c:f>Sheet3!$B$4:$B$34</c:f>
              <c:numCache>
                <c:formatCode>General</c:formatCode>
                <c:ptCount val="25"/>
                <c:pt idx="0">
                  <c:v>528744</c:v>
                </c:pt>
                <c:pt idx="1">
                  <c:v>4259375</c:v>
                </c:pt>
                <c:pt idx="2">
                  <c:v>11645357</c:v>
                </c:pt>
                <c:pt idx="3">
                  <c:v>566587.5</c:v>
                </c:pt>
                <c:pt idx="4">
                  <c:v>9932100</c:v>
                </c:pt>
                <c:pt idx="5">
                  <c:v>402036</c:v>
                </c:pt>
                <c:pt idx="6">
                  <c:v>4152750</c:v>
                </c:pt>
                <c:pt idx="7">
                  <c:v>12916348.5</c:v>
                </c:pt>
                <c:pt idx="8">
                  <c:v>643890</c:v>
                </c:pt>
                <c:pt idx="9">
                  <c:v>7966650</c:v>
                </c:pt>
                <c:pt idx="10">
                  <c:v>356268</c:v>
                </c:pt>
                <c:pt idx="11">
                  <c:v>4362812.5</c:v>
                </c:pt>
                <c:pt idx="12">
                  <c:v>12011352</c:v>
                </c:pt>
                <c:pt idx="13">
                  <c:v>323985</c:v>
                </c:pt>
                <c:pt idx="14">
                  <c:v>7867050</c:v>
                </c:pt>
                <c:pt idx="15">
                  <c:v>253956</c:v>
                </c:pt>
                <c:pt idx="16">
                  <c:v>3579750</c:v>
                </c:pt>
                <c:pt idx="17">
                  <c:v>10637844</c:v>
                </c:pt>
                <c:pt idx="18">
                  <c:v>540885</c:v>
                </c:pt>
                <c:pt idx="19">
                  <c:v>7714500</c:v>
                </c:pt>
                <c:pt idx="20">
                  <c:v>394158</c:v>
                </c:pt>
                <c:pt idx="21">
                  <c:v>4714312.5</c:v>
                </c:pt>
                <c:pt idx="22">
                  <c:v>9192165</c:v>
                </c:pt>
                <c:pt idx="23">
                  <c:v>507322.5</c:v>
                </c:pt>
                <c:pt idx="24">
                  <c:v>12461400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8660064"/>
        <c:axId val="430575040"/>
      </c:barChart>
      <c:catAx>
        <c:axId val="428660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575040"/>
        <c:crosses val="autoZero"/>
        <c:auto val="1"/>
        <c:lblAlgn val="ctr"/>
        <c:lblOffset val="100"/>
        <c:noMultiLvlLbl val="0"/>
      </c:catAx>
      <c:valAx>
        <c:axId val="430575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8660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Sample.xlsx]Sheet3!PivotTable3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Gross</a:t>
            </a:r>
            <a:r>
              <a:rPr lang="en-US" baseline="0"/>
              <a:t> Sales By Segment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Sheet3!$Q$3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Sheet3!$P$4:$P$9</c:f>
              <c:strCache>
                <c:ptCount val="5"/>
                <c:pt idx="0">
                  <c:v>Channel Partners</c:v>
                </c:pt>
                <c:pt idx="1">
                  <c:v>Enterprise</c:v>
                </c:pt>
                <c:pt idx="2">
                  <c:v>Government</c:v>
                </c:pt>
                <c:pt idx="3">
                  <c:v>Midmarket</c:v>
                </c:pt>
                <c:pt idx="4">
                  <c:v>Small Business</c:v>
                </c:pt>
              </c:strCache>
            </c:strRef>
          </c:cat>
          <c:val>
            <c:numRef>
              <c:f>Sheet3!$Q$4:$Q$9</c:f>
              <c:numCache>
                <c:formatCode>"£"#,##0.00</c:formatCode>
                <c:ptCount val="5"/>
                <c:pt idx="0">
                  <c:v>1935162</c:v>
                </c:pt>
                <c:pt idx="1">
                  <c:v>21069000</c:v>
                </c:pt>
                <c:pt idx="2">
                  <c:v>56403066.5</c:v>
                </c:pt>
                <c:pt idx="3">
                  <c:v>2582670</c:v>
                </c:pt>
                <c:pt idx="4">
                  <c:v>45941700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Sample.xlsx]Sheet3!PivotTable4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Gross</a:t>
            </a:r>
            <a:r>
              <a:rPr lang="en-US" baseline="0"/>
              <a:t> Sales By Country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Sheet3!$T$3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Sheet3!$S$4:$S$9</c:f>
              <c:strCache>
                <c:ptCount val="5"/>
                <c:pt idx="0">
                  <c:v>Canada</c:v>
                </c:pt>
                <c:pt idx="1">
                  <c:v>France</c:v>
                </c:pt>
                <c:pt idx="2">
                  <c:v>Germany</c:v>
                </c:pt>
                <c:pt idx="3">
                  <c:v>Mexico</c:v>
                </c:pt>
                <c:pt idx="4">
                  <c:v>United States of America</c:v>
                </c:pt>
              </c:strCache>
            </c:strRef>
          </c:cat>
          <c:val>
            <c:numRef>
              <c:f>Sheet3!$T$4:$T$9</c:f>
              <c:numCache>
                <c:formatCode>"£"#,##0.00</c:formatCode>
                <c:ptCount val="5"/>
                <c:pt idx="0">
                  <c:v>26932163.5</c:v>
                </c:pt>
                <c:pt idx="1">
                  <c:v>26081674.5</c:v>
                </c:pt>
                <c:pt idx="2">
                  <c:v>24921467.5</c:v>
                </c:pt>
                <c:pt idx="3">
                  <c:v>22726935</c:v>
                </c:pt>
                <c:pt idx="4">
                  <c:v>27269358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Sample.xlsx]Sheet3!PivotTable2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0" i="0" baseline="0">
                <a:effectLst/>
              </a:rPr>
              <a:t>Profit by Country and Segment</a:t>
            </a:r>
            <a:endParaRPr lang="en-US" sz="120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Sheet3!$N$3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Sheet3!$M$4:$M$34</c:f>
              <c:multiLvlStrCache>
                <c:ptCount val="25"/>
                <c:lvl>
                  <c:pt idx="0">
                    <c:v>Channel Partners</c:v>
                  </c:pt>
                  <c:pt idx="1">
                    <c:v>Enterprise</c:v>
                  </c:pt>
                  <c:pt idx="2">
                    <c:v>Government</c:v>
                  </c:pt>
                  <c:pt idx="3">
                    <c:v>Midmarket</c:v>
                  </c:pt>
                  <c:pt idx="4">
                    <c:v>Small Business</c:v>
                  </c:pt>
                  <c:pt idx="5">
                    <c:v>Channel Partners</c:v>
                  </c:pt>
                  <c:pt idx="6">
                    <c:v>Enterprise</c:v>
                  </c:pt>
                  <c:pt idx="7">
                    <c:v>Government</c:v>
                  </c:pt>
                  <c:pt idx="8">
                    <c:v>Midmarket</c:v>
                  </c:pt>
                  <c:pt idx="9">
                    <c:v>Small Business</c:v>
                  </c:pt>
                  <c:pt idx="10">
                    <c:v>Channel Partners</c:v>
                  </c:pt>
                  <c:pt idx="11">
                    <c:v>Enterprise</c:v>
                  </c:pt>
                  <c:pt idx="12">
                    <c:v>Government</c:v>
                  </c:pt>
                  <c:pt idx="13">
                    <c:v>Midmarket</c:v>
                  </c:pt>
                  <c:pt idx="14">
                    <c:v>Small Business</c:v>
                  </c:pt>
                  <c:pt idx="15">
                    <c:v>Channel Partners</c:v>
                  </c:pt>
                  <c:pt idx="16">
                    <c:v>Enterprise</c:v>
                  </c:pt>
                  <c:pt idx="17">
                    <c:v>Government</c:v>
                  </c:pt>
                  <c:pt idx="18">
                    <c:v>Midmarket</c:v>
                  </c:pt>
                  <c:pt idx="19">
                    <c:v>Small Business</c:v>
                  </c:pt>
                  <c:pt idx="20">
                    <c:v>Channel Partners</c:v>
                  </c:pt>
                  <c:pt idx="21">
                    <c:v>Enterprise</c:v>
                  </c:pt>
                  <c:pt idx="22">
                    <c:v>Government</c:v>
                  </c:pt>
                  <c:pt idx="23">
                    <c:v>Midmarket</c:v>
                  </c:pt>
                  <c:pt idx="24">
                    <c:v>Small Business</c:v>
                  </c:pt>
                </c:lvl>
                <c:lvl>
                  <c:pt idx="0">
                    <c:v>Canada</c:v>
                  </c:pt>
                  <c:pt idx="5">
                    <c:v>France</c:v>
                  </c:pt>
                  <c:pt idx="10">
                    <c:v>Germany</c:v>
                  </c:pt>
                  <c:pt idx="15">
                    <c:v>Mexico</c:v>
                  </c:pt>
                  <c:pt idx="20">
                    <c:v>United States of America</c:v>
                  </c:pt>
                </c:lvl>
              </c:multiLvlStrCache>
            </c:multiLvlStrRef>
          </c:cat>
          <c:val>
            <c:numRef>
              <c:f>Sheet3!$N$4:$N$34</c:f>
              <c:numCache>
                <c:formatCode>0.0%</c:formatCode>
                <c:ptCount val="25"/>
                <c:pt idx="0">
                  <c:v>0.10171574349448856</c:v>
                </c:pt>
                <c:pt idx="1">
                  <c:v>-3.4429263150496964E-2</c:v>
                </c:pt>
                <c:pt idx="2">
                  <c:v>0.63993342273690479</c:v>
                </c:pt>
                <c:pt idx="3">
                  <c:v>3.7540488111470267E-2</c:v>
                </c:pt>
                <c:pt idx="4">
                  <c:v>0.2552396088076333</c:v>
                </c:pt>
                <c:pt idx="5">
                  <c:v>7.1827523783140904E-2</c:v>
                </c:pt>
                <c:pt idx="6">
                  <c:v>-2.5323683886233492E-2</c:v>
                </c:pt>
                <c:pt idx="7">
                  <c:v>0.71671524111538998</c:v>
                </c:pt>
                <c:pt idx="8">
                  <c:v>4.3517897566275734E-2</c:v>
                </c:pt>
                <c:pt idx="9">
                  <c:v>0.19326302142142682</c:v>
                </c:pt>
                <c:pt idx="10">
                  <c:v>6.7209985710151104E-2</c:v>
                </c:pt>
                <c:pt idx="11">
                  <c:v>-2.7571475450792169E-2</c:v>
                </c:pt>
                <c:pt idx="12">
                  <c:v>0.72741660485752713</c:v>
                </c:pt>
                <c:pt idx="13">
                  <c:v>2.3191775155973864E-2</c:v>
                </c:pt>
                <c:pt idx="14">
                  <c:v>0.20975310972714009</c:v>
                </c:pt>
                <c:pt idx="15">
                  <c:v>5.8775140741701606E-2</c:v>
                </c:pt>
                <c:pt idx="16">
                  <c:v>-4.1505689012391024E-2</c:v>
                </c:pt>
                <c:pt idx="17">
                  <c:v>0.70133901016525368</c:v>
                </c:pt>
                <c:pt idx="18">
                  <c:v>5.1778229889976699E-2</c:v>
                </c:pt>
                <c:pt idx="19">
                  <c:v>0.229613308215459</c:v>
                </c:pt>
                <c:pt idx="20">
                  <c:v>8.9464544124290821E-2</c:v>
                </c:pt>
                <c:pt idx="21">
                  <c:v>-5.8465238695065432E-2</c:v>
                </c:pt>
                <c:pt idx="22">
                  <c:v>0.56866232193179056</c:v>
                </c:pt>
                <c:pt idx="23">
                  <c:v>4.2453396305337766E-2</c:v>
                </c:pt>
                <c:pt idx="24">
                  <c:v>0.3578849763336463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575824"/>
        <c:axId val="430577784"/>
      </c:barChart>
      <c:catAx>
        <c:axId val="430575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577784"/>
        <c:crosses val="autoZero"/>
        <c:auto val="1"/>
        <c:lblAlgn val="ctr"/>
        <c:lblOffset val="100"/>
        <c:noMultiLvlLbl val="0"/>
      </c:catAx>
      <c:valAx>
        <c:axId val="430577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575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Sample.xlsx]Sheet3!PivotTable11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Profit</a:t>
            </a:r>
            <a:r>
              <a:rPr lang="en-US" baseline="0" dirty="0" smtClean="0"/>
              <a:t> by Segment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Sheet3!$W$3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Sheet3!$V$4:$V$9</c:f>
              <c:strCache>
                <c:ptCount val="5"/>
                <c:pt idx="0">
                  <c:v>Channel Partners</c:v>
                </c:pt>
                <c:pt idx="1">
                  <c:v>Enterprise</c:v>
                </c:pt>
                <c:pt idx="2">
                  <c:v>Government</c:v>
                </c:pt>
                <c:pt idx="3">
                  <c:v>Midmarket</c:v>
                </c:pt>
                <c:pt idx="4">
                  <c:v>Small Business</c:v>
                </c:pt>
              </c:strCache>
            </c:strRef>
          </c:cat>
          <c:val>
            <c:numRef>
              <c:f>Sheet3!$W$4:$W$9</c:f>
              <c:numCache>
                <c:formatCode>General</c:formatCode>
                <c:ptCount val="5"/>
                <c:pt idx="0">
                  <c:v>1316803.1400000001</c:v>
                </c:pt>
                <c:pt idx="1">
                  <c:v>-614545.625</c:v>
                </c:pt>
                <c:pt idx="2">
                  <c:v>11388173.169999985</c:v>
                </c:pt>
                <c:pt idx="3">
                  <c:v>660103.07499999984</c:v>
                </c:pt>
                <c:pt idx="4">
                  <c:v>4143168.5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Sample.xlsx]Sheet3!PivotTable12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Profit</a:t>
            </a:r>
            <a:r>
              <a:rPr lang="en-US" baseline="0" dirty="0" smtClean="0"/>
              <a:t> by Country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Sheet3!$Z$3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Sheet3!$Y$4:$Y$9</c:f>
              <c:strCache>
                <c:ptCount val="5"/>
                <c:pt idx="0">
                  <c:v>Canada</c:v>
                </c:pt>
                <c:pt idx="1">
                  <c:v>France</c:v>
                </c:pt>
                <c:pt idx="2">
                  <c:v>Germany</c:v>
                </c:pt>
                <c:pt idx="3">
                  <c:v>Mexico</c:v>
                </c:pt>
                <c:pt idx="4">
                  <c:v>United States of America</c:v>
                </c:pt>
              </c:strCache>
            </c:strRef>
          </c:cat>
          <c:val>
            <c:numRef>
              <c:f>Sheet3!$Z$4:$Z$9</c:f>
              <c:numCache>
                <c:formatCode>General</c:formatCode>
                <c:ptCount val="5"/>
                <c:pt idx="0">
                  <c:v>3529228.8850000002</c:v>
                </c:pt>
                <c:pt idx="1">
                  <c:v>3781020.7800000007</c:v>
                </c:pt>
                <c:pt idx="2">
                  <c:v>3680388.8200000008</c:v>
                </c:pt>
                <c:pt idx="3">
                  <c:v>2907523.1100000003</c:v>
                </c:pt>
                <c:pt idx="4">
                  <c:v>2995540.6649999991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Sample.xlsx]Sheet4!PivotTable10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Gross Sales by</a:t>
            </a:r>
            <a:r>
              <a:rPr lang="en-US" baseline="0"/>
              <a:t> Date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Sheet4!$C$68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Sheet4!$B$69:$B$85</c:f>
              <c:strCache>
                <c:ptCount val="16"/>
                <c:pt idx="0">
                  <c:v>01/09/2013</c:v>
                </c:pt>
                <c:pt idx="1">
                  <c:v>01/10/2013</c:v>
                </c:pt>
                <c:pt idx="2">
                  <c:v>01/11/2013</c:v>
                </c:pt>
                <c:pt idx="3">
                  <c:v>01/12/2013</c:v>
                </c:pt>
                <c:pt idx="4">
                  <c:v>01/01/2014</c:v>
                </c:pt>
                <c:pt idx="5">
                  <c:v>01/02/2014</c:v>
                </c:pt>
                <c:pt idx="6">
                  <c:v>01/03/2014</c:v>
                </c:pt>
                <c:pt idx="7">
                  <c:v>01/04/2014</c:v>
                </c:pt>
                <c:pt idx="8">
                  <c:v>01/05/2014</c:v>
                </c:pt>
                <c:pt idx="9">
                  <c:v>01/06/2014</c:v>
                </c:pt>
                <c:pt idx="10">
                  <c:v>01/07/2014</c:v>
                </c:pt>
                <c:pt idx="11">
                  <c:v>01/08/2014</c:v>
                </c:pt>
                <c:pt idx="12">
                  <c:v>01/09/2014</c:v>
                </c:pt>
                <c:pt idx="13">
                  <c:v>01/10/2014</c:v>
                </c:pt>
                <c:pt idx="14">
                  <c:v>01/11/2014</c:v>
                </c:pt>
                <c:pt idx="15">
                  <c:v>01/12/2014</c:v>
                </c:pt>
              </c:strCache>
            </c:strRef>
          </c:cat>
          <c:val>
            <c:numRef>
              <c:f>Sheet4!$C$69:$C$85</c:f>
              <c:numCache>
                <c:formatCode>General</c:formatCode>
                <c:ptCount val="16"/>
                <c:pt idx="0">
                  <c:v>4729736</c:v>
                </c:pt>
                <c:pt idx="1">
                  <c:v>9828688</c:v>
                </c:pt>
                <c:pt idx="2">
                  <c:v>8167338</c:v>
                </c:pt>
                <c:pt idx="3">
                  <c:v>5835025</c:v>
                </c:pt>
                <c:pt idx="4">
                  <c:v>7307403.5</c:v>
                </c:pt>
                <c:pt idx="5">
                  <c:v>7699201</c:v>
                </c:pt>
                <c:pt idx="6">
                  <c:v>6124026</c:v>
                </c:pt>
                <c:pt idx="7">
                  <c:v>7429392.5</c:v>
                </c:pt>
                <c:pt idx="8">
                  <c:v>6767911</c:v>
                </c:pt>
                <c:pt idx="9">
                  <c:v>10268972</c:v>
                </c:pt>
                <c:pt idx="10">
                  <c:v>8833027.5</c:v>
                </c:pt>
                <c:pt idx="11">
                  <c:v>6325959</c:v>
                </c:pt>
                <c:pt idx="12">
                  <c:v>6845317</c:v>
                </c:pt>
                <c:pt idx="13">
                  <c:v>13313424</c:v>
                </c:pt>
                <c:pt idx="14">
                  <c:v>5947910</c:v>
                </c:pt>
                <c:pt idx="15">
                  <c:v>12508268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0574648"/>
        <c:axId val="430938512"/>
      </c:lineChart>
      <c:catAx>
        <c:axId val="430574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938512"/>
        <c:crosses val="autoZero"/>
        <c:auto val="1"/>
        <c:lblAlgn val="ctr"/>
        <c:lblOffset val="100"/>
        <c:noMultiLvlLbl val="0"/>
      </c:catAx>
      <c:valAx>
        <c:axId val="430938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574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Sample.xlsx]Sheet4!PivotTable9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Units</a:t>
            </a:r>
            <a:r>
              <a:rPr lang="en-US" baseline="0"/>
              <a:t> Sold by Product and Date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Sheet4!$C$44:$C$45</c:f>
              <c:strCache>
                <c:ptCount val="1"/>
                <c:pt idx="0">
                  <c:v>Amarilla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Sheet4!$B$46:$B$62</c:f>
              <c:strCache>
                <c:ptCount val="16"/>
                <c:pt idx="0">
                  <c:v>01/09/2013</c:v>
                </c:pt>
                <c:pt idx="1">
                  <c:v>01/10/2013</c:v>
                </c:pt>
                <c:pt idx="2">
                  <c:v>01/11/2013</c:v>
                </c:pt>
                <c:pt idx="3">
                  <c:v>01/12/2013</c:v>
                </c:pt>
                <c:pt idx="4">
                  <c:v>01/01/2014</c:v>
                </c:pt>
                <c:pt idx="5">
                  <c:v>01/02/2014</c:v>
                </c:pt>
                <c:pt idx="6">
                  <c:v>01/03/2014</c:v>
                </c:pt>
                <c:pt idx="7">
                  <c:v>01/04/2014</c:v>
                </c:pt>
                <c:pt idx="8">
                  <c:v>01/05/2014</c:v>
                </c:pt>
                <c:pt idx="9">
                  <c:v>01/06/2014</c:v>
                </c:pt>
                <c:pt idx="10">
                  <c:v>01/07/2014</c:v>
                </c:pt>
                <c:pt idx="11">
                  <c:v>01/08/2014</c:v>
                </c:pt>
                <c:pt idx="12">
                  <c:v>01/09/2014</c:v>
                </c:pt>
                <c:pt idx="13">
                  <c:v>01/10/2014</c:v>
                </c:pt>
                <c:pt idx="14">
                  <c:v>01/11/2014</c:v>
                </c:pt>
                <c:pt idx="15">
                  <c:v>01/12/2014</c:v>
                </c:pt>
              </c:strCache>
            </c:strRef>
          </c:cat>
          <c:val>
            <c:numRef>
              <c:f>Sheet4!$C$46:$C$62</c:f>
              <c:numCache>
                <c:formatCode>General</c:formatCode>
                <c:ptCount val="16"/>
                <c:pt idx="0">
                  <c:v>6691</c:v>
                </c:pt>
                <c:pt idx="1">
                  <c:v>14044</c:v>
                </c:pt>
                <c:pt idx="2">
                  <c:v>5709</c:v>
                </c:pt>
                <c:pt idx="3">
                  <c:v>7244</c:v>
                </c:pt>
                <c:pt idx="4">
                  <c:v>10019.5</c:v>
                </c:pt>
                <c:pt idx="5">
                  <c:v>8475</c:v>
                </c:pt>
                <c:pt idx="6">
                  <c:v>7716</c:v>
                </c:pt>
                <c:pt idx="7">
                  <c:v>10767</c:v>
                </c:pt>
                <c:pt idx="8">
                  <c:v>10237</c:v>
                </c:pt>
                <c:pt idx="9">
                  <c:v>13985</c:v>
                </c:pt>
                <c:pt idx="10">
                  <c:v>11620.5</c:v>
                </c:pt>
                <c:pt idx="11">
                  <c:v>8865</c:v>
                </c:pt>
                <c:pt idx="12">
                  <c:v>9240</c:v>
                </c:pt>
                <c:pt idx="13">
                  <c:v>12612</c:v>
                </c:pt>
                <c:pt idx="14">
                  <c:v>6509</c:v>
                </c:pt>
                <c:pt idx="15">
                  <c:v>11581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Sheet4!$D$44:$D$45</c:f>
              <c:strCache>
                <c:ptCount val="1"/>
                <c:pt idx="0">
                  <c:v>Carretera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Sheet4!$B$46:$B$62</c:f>
              <c:strCache>
                <c:ptCount val="16"/>
                <c:pt idx="0">
                  <c:v>01/09/2013</c:v>
                </c:pt>
                <c:pt idx="1">
                  <c:v>01/10/2013</c:v>
                </c:pt>
                <c:pt idx="2">
                  <c:v>01/11/2013</c:v>
                </c:pt>
                <c:pt idx="3">
                  <c:v>01/12/2013</c:v>
                </c:pt>
                <c:pt idx="4">
                  <c:v>01/01/2014</c:v>
                </c:pt>
                <c:pt idx="5">
                  <c:v>01/02/2014</c:v>
                </c:pt>
                <c:pt idx="6">
                  <c:v>01/03/2014</c:v>
                </c:pt>
                <c:pt idx="7">
                  <c:v>01/04/2014</c:v>
                </c:pt>
                <c:pt idx="8">
                  <c:v>01/05/2014</c:v>
                </c:pt>
                <c:pt idx="9">
                  <c:v>01/06/2014</c:v>
                </c:pt>
                <c:pt idx="10">
                  <c:v>01/07/2014</c:v>
                </c:pt>
                <c:pt idx="11">
                  <c:v>01/08/2014</c:v>
                </c:pt>
                <c:pt idx="12">
                  <c:v>01/09/2014</c:v>
                </c:pt>
                <c:pt idx="13">
                  <c:v>01/10/2014</c:v>
                </c:pt>
                <c:pt idx="14">
                  <c:v>01/11/2014</c:v>
                </c:pt>
                <c:pt idx="15">
                  <c:v>01/12/2014</c:v>
                </c:pt>
              </c:strCache>
            </c:strRef>
          </c:cat>
          <c:val>
            <c:numRef>
              <c:f>Sheet4!$D$46:$D$62</c:f>
              <c:numCache>
                <c:formatCode>General</c:formatCode>
                <c:ptCount val="16"/>
                <c:pt idx="0">
                  <c:v>6045</c:v>
                </c:pt>
                <c:pt idx="1">
                  <c:v>11571</c:v>
                </c:pt>
                <c:pt idx="2">
                  <c:v>7690</c:v>
                </c:pt>
                <c:pt idx="3">
                  <c:v>6098</c:v>
                </c:pt>
                <c:pt idx="4">
                  <c:v>6578.5</c:v>
                </c:pt>
                <c:pt idx="5">
                  <c:v>7503</c:v>
                </c:pt>
                <c:pt idx="6">
                  <c:v>6476</c:v>
                </c:pt>
                <c:pt idx="7">
                  <c:v>13590.5</c:v>
                </c:pt>
                <c:pt idx="8">
                  <c:v>4800</c:v>
                </c:pt>
                <c:pt idx="9">
                  <c:v>15055</c:v>
                </c:pt>
                <c:pt idx="10">
                  <c:v>6960</c:v>
                </c:pt>
                <c:pt idx="11">
                  <c:v>7365</c:v>
                </c:pt>
                <c:pt idx="12">
                  <c:v>8205</c:v>
                </c:pt>
                <c:pt idx="13">
                  <c:v>15082</c:v>
                </c:pt>
                <c:pt idx="14">
                  <c:v>9513</c:v>
                </c:pt>
                <c:pt idx="15">
                  <c:v>14314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Sheet4!$E$44:$E$45</c:f>
              <c:strCache>
                <c:ptCount val="1"/>
                <c:pt idx="0">
                  <c:v>Montana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Sheet4!$B$46:$B$62</c:f>
              <c:strCache>
                <c:ptCount val="16"/>
                <c:pt idx="0">
                  <c:v>01/09/2013</c:v>
                </c:pt>
                <c:pt idx="1">
                  <c:v>01/10/2013</c:v>
                </c:pt>
                <c:pt idx="2">
                  <c:v>01/11/2013</c:v>
                </c:pt>
                <c:pt idx="3">
                  <c:v>01/12/2013</c:v>
                </c:pt>
                <c:pt idx="4">
                  <c:v>01/01/2014</c:v>
                </c:pt>
                <c:pt idx="5">
                  <c:v>01/02/2014</c:v>
                </c:pt>
                <c:pt idx="6">
                  <c:v>01/03/2014</c:v>
                </c:pt>
                <c:pt idx="7">
                  <c:v>01/04/2014</c:v>
                </c:pt>
                <c:pt idx="8">
                  <c:v>01/05/2014</c:v>
                </c:pt>
                <c:pt idx="9">
                  <c:v>01/06/2014</c:v>
                </c:pt>
                <c:pt idx="10">
                  <c:v>01/07/2014</c:v>
                </c:pt>
                <c:pt idx="11">
                  <c:v>01/08/2014</c:v>
                </c:pt>
                <c:pt idx="12">
                  <c:v>01/09/2014</c:v>
                </c:pt>
                <c:pt idx="13">
                  <c:v>01/10/2014</c:v>
                </c:pt>
                <c:pt idx="14">
                  <c:v>01/11/2014</c:v>
                </c:pt>
                <c:pt idx="15">
                  <c:v>01/12/2014</c:v>
                </c:pt>
              </c:strCache>
            </c:strRef>
          </c:cat>
          <c:val>
            <c:numRef>
              <c:f>Sheet4!$E$46:$E$62</c:f>
              <c:numCache>
                <c:formatCode>General</c:formatCode>
                <c:ptCount val="16"/>
                <c:pt idx="0">
                  <c:v>6620</c:v>
                </c:pt>
                <c:pt idx="1">
                  <c:v>17608</c:v>
                </c:pt>
                <c:pt idx="2">
                  <c:v>7821</c:v>
                </c:pt>
                <c:pt idx="3">
                  <c:v>4231</c:v>
                </c:pt>
                <c:pt idx="4">
                  <c:v>7700.5</c:v>
                </c:pt>
                <c:pt idx="5">
                  <c:v>5405</c:v>
                </c:pt>
                <c:pt idx="6">
                  <c:v>8280</c:v>
                </c:pt>
                <c:pt idx="7">
                  <c:v>10055.5</c:v>
                </c:pt>
                <c:pt idx="8">
                  <c:v>8300</c:v>
                </c:pt>
                <c:pt idx="9">
                  <c:v>14069</c:v>
                </c:pt>
                <c:pt idx="10">
                  <c:v>10568</c:v>
                </c:pt>
                <c:pt idx="11">
                  <c:v>6209</c:v>
                </c:pt>
                <c:pt idx="12">
                  <c:v>7826</c:v>
                </c:pt>
                <c:pt idx="13">
                  <c:v>14304</c:v>
                </c:pt>
                <c:pt idx="14">
                  <c:v>10418</c:v>
                </c:pt>
                <c:pt idx="15">
                  <c:v>14783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Sheet4!$F$44:$F$45</c:f>
              <c:strCache>
                <c:ptCount val="1"/>
                <c:pt idx="0">
                  <c:v>Paseo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Sheet4!$B$46:$B$62</c:f>
              <c:strCache>
                <c:ptCount val="16"/>
                <c:pt idx="0">
                  <c:v>01/09/2013</c:v>
                </c:pt>
                <c:pt idx="1">
                  <c:v>01/10/2013</c:v>
                </c:pt>
                <c:pt idx="2">
                  <c:v>01/11/2013</c:v>
                </c:pt>
                <c:pt idx="3">
                  <c:v>01/12/2013</c:v>
                </c:pt>
                <c:pt idx="4">
                  <c:v>01/01/2014</c:v>
                </c:pt>
                <c:pt idx="5">
                  <c:v>01/02/2014</c:v>
                </c:pt>
                <c:pt idx="6">
                  <c:v>01/03/2014</c:v>
                </c:pt>
                <c:pt idx="7">
                  <c:v>01/04/2014</c:v>
                </c:pt>
                <c:pt idx="8">
                  <c:v>01/05/2014</c:v>
                </c:pt>
                <c:pt idx="9">
                  <c:v>01/06/2014</c:v>
                </c:pt>
                <c:pt idx="10">
                  <c:v>01/07/2014</c:v>
                </c:pt>
                <c:pt idx="11">
                  <c:v>01/08/2014</c:v>
                </c:pt>
                <c:pt idx="12">
                  <c:v>01/09/2014</c:v>
                </c:pt>
                <c:pt idx="13">
                  <c:v>01/10/2014</c:v>
                </c:pt>
                <c:pt idx="14">
                  <c:v>01/11/2014</c:v>
                </c:pt>
                <c:pt idx="15">
                  <c:v>01/12/2014</c:v>
                </c:pt>
              </c:strCache>
            </c:strRef>
          </c:cat>
          <c:val>
            <c:numRef>
              <c:f>Sheet4!$F$46:$F$62</c:f>
              <c:numCache>
                <c:formatCode>General</c:formatCode>
                <c:ptCount val="16"/>
                <c:pt idx="0">
                  <c:v>15790</c:v>
                </c:pt>
                <c:pt idx="1">
                  <c:v>26789</c:v>
                </c:pt>
                <c:pt idx="2">
                  <c:v>20812</c:v>
                </c:pt>
                <c:pt idx="3">
                  <c:v>18856</c:v>
                </c:pt>
                <c:pt idx="4">
                  <c:v>23598</c:v>
                </c:pt>
                <c:pt idx="5">
                  <c:v>14629</c:v>
                </c:pt>
                <c:pt idx="6">
                  <c:v>16695</c:v>
                </c:pt>
                <c:pt idx="7">
                  <c:v>23653</c:v>
                </c:pt>
                <c:pt idx="8">
                  <c:v>15417</c:v>
                </c:pt>
                <c:pt idx="9">
                  <c:v>25598</c:v>
                </c:pt>
                <c:pt idx="10">
                  <c:v>22637.5</c:v>
                </c:pt>
                <c:pt idx="11">
                  <c:v>18834</c:v>
                </c:pt>
                <c:pt idx="12">
                  <c:v>17416</c:v>
                </c:pt>
                <c:pt idx="13">
                  <c:v>29623</c:v>
                </c:pt>
                <c:pt idx="14">
                  <c:v>14129</c:v>
                </c:pt>
                <c:pt idx="15">
                  <c:v>33763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Sheet4!$G$44:$G$45</c:f>
              <c:strCache>
                <c:ptCount val="1"/>
                <c:pt idx="0">
                  <c:v>Velo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Sheet4!$B$46:$B$62</c:f>
              <c:strCache>
                <c:ptCount val="16"/>
                <c:pt idx="0">
                  <c:v>01/09/2013</c:v>
                </c:pt>
                <c:pt idx="1">
                  <c:v>01/10/2013</c:v>
                </c:pt>
                <c:pt idx="2">
                  <c:v>01/11/2013</c:v>
                </c:pt>
                <c:pt idx="3">
                  <c:v>01/12/2013</c:v>
                </c:pt>
                <c:pt idx="4">
                  <c:v>01/01/2014</c:v>
                </c:pt>
                <c:pt idx="5">
                  <c:v>01/02/2014</c:v>
                </c:pt>
                <c:pt idx="6">
                  <c:v>01/03/2014</c:v>
                </c:pt>
                <c:pt idx="7">
                  <c:v>01/04/2014</c:v>
                </c:pt>
                <c:pt idx="8">
                  <c:v>01/05/2014</c:v>
                </c:pt>
                <c:pt idx="9">
                  <c:v>01/06/2014</c:v>
                </c:pt>
                <c:pt idx="10">
                  <c:v>01/07/2014</c:v>
                </c:pt>
                <c:pt idx="11">
                  <c:v>01/08/2014</c:v>
                </c:pt>
                <c:pt idx="12">
                  <c:v>01/09/2014</c:v>
                </c:pt>
                <c:pt idx="13">
                  <c:v>01/10/2014</c:v>
                </c:pt>
                <c:pt idx="14">
                  <c:v>01/11/2014</c:v>
                </c:pt>
                <c:pt idx="15">
                  <c:v>01/12/2014</c:v>
                </c:pt>
              </c:strCache>
            </c:strRef>
          </c:cat>
          <c:val>
            <c:numRef>
              <c:f>Sheet4!$G$46:$G$62</c:f>
              <c:numCache>
                <c:formatCode>General</c:formatCode>
                <c:ptCount val="16"/>
                <c:pt idx="0">
                  <c:v>7502</c:v>
                </c:pt>
                <c:pt idx="1">
                  <c:v>13836</c:v>
                </c:pt>
                <c:pt idx="2">
                  <c:v>10193</c:v>
                </c:pt>
                <c:pt idx="3">
                  <c:v>7940</c:v>
                </c:pt>
                <c:pt idx="4">
                  <c:v>9971.5</c:v>
                </c:pt>
                <c:pt idx="5">
                  <c:v>7893</c:v>
                </c:pt>
                <c:pt idx="6">
                  <c:v>6691</c:v>
                </c:pt>
                <c:pt idx="7">
                  <c:v>11458.5</c:v>
                </c:pt>
                <c:pt idx="8">
                  <c:v>7015</c:v>
                </c:pt>
                <c:pt idx="9">
                  <c:v>16953</c:v>
                </c:pt>
                <c:pt idx="10">
                  <c:v>11253.5</c:v>
                </c:pt>
                <c:pt idx="11">
                  <c:v>9765</c:v>
                </c:pt>
                <c:pt idx="12">
                  <c:v>7023</c:v>
                </c:pt>
                <c:pt idx="13">
                  <c:v>15749</c:v>
                </c:pt>
                <c:pt idx="14">
                  <c:v>6992</c:v>
                </c:pt>
                <c:pt idx="15">
                  <c:v>12189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Sheet4!$H$44:$H$45</c:f>
              <c:strCache>
                <c:ptCount val="1"/>
                <c:pt idx="0">
                  <c:v>VTT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Sheet4!$B$46:$B$62</c:f>
              <c:strCache>
                <c:ptCount val="16"/>
                <c:pt idx="0">
                  <c:v>01/09/2013</c:v>
                </c:pt>
                <c:pt idx="1">
                  <c:v>01/10/2013</c:v>
                </c:pt>
                <c:pt idx="2">
                  <c:v>01/11/2013</c:v>
                </c:pt>
                <c:pt idx="3">
                  <c:v>01/12/2013</c:v>
                </c:pt>
                <c:pt idx="4">
                  <c:v>01/01/2014</c:v>
                </c:pt>
                <c:pt idx="5">
                  <c:v>01/02/2014</c:v>
                </c:pt>
                <c:pt idx="6">
                  <c:v>01/03/2014</c:v>
                </c:pt>
                <c:pt idx="7">
                  <c:v>01/04/2014</c:v>
                </c:pt>
                <c:pt idx="8">
                  <c:v>01/05/2014</c:v>
                </c:pt>
                <c:pt idx="9">
                  <c:v>01/06/2014</c:v>
                </c:pt>
                <c:pt idx="10">
                  <c:v>01/07/2014</c:v>
                </c:pt>
                <c:pt idx="11">
                  <c:v>01/08/2014</c:v>
                </c:pt>
                <c:pt idx="12">
                  <c:v>01/09/2014</c:v>
                </c:pt>
                <c:pt idx="13">
                  <c:v>01/10/2014</c:v>
                </c:pt>
                <c:pt idx="14">
                  <c:v>01/11/2014</c:v>
                </c:pt>
                <c:pt idx="15">
                  <c:v>01/12/2014</c:v>
                </c:pt>
              </c:strCache>
            </c:strRef>
          </c:cat>
          <c:val>
            <c:numRef>
              <c:f>Sheet4!$H$46:$H$62</c:f>
              <c:numCache>
                <c:formatCode>General</c:formatCode>
                <c:ptCount val="16"/>
                <c:pt idx="0">
                  <c:v>7953</c:v>
                </c:pt>
                <c:pt idx="1">
                  <c:v>11774</c:v>
                </c:pt>
                <c:pt idx="2">
                  <c:v>13256</c:v>
                </c:pt>
                <c:pt idx="3">
                  <c:v>8601</c:v>
                </c:pt>
                <c:pt idx="4">
                  <c:v>9967.5</c:v>
                </c:pt>
                <c:pt idx="5">
                  <c:v>11210</c:v>
                </c:pt>
                <c:pt idx="6">
                  <c:v>7562</c:v>
                </c:pt>
                <c:pt idx="7">
                  <c:v>9362</c:v>
                </c:pt>
                <c:pt idx="8">
                  <c:v>6002</c:v>
                </c:pt>
                <c:pt idx="9">
                  <c:v>17642</c:v>
                </c:pt>
                <c:pt idx="10">
                  <c:v>6309.5</c:v>
                </c:pt>
                <c:pt idx="11">
                  <c:v>9667</c:v>
                </c:pt>
                <c:pt idx="12">
                  <c:v>7570</c:v>
                </c:pt>
                <c:pt idx="13">
                  <c:v>18112</c:v>
                </c:pt>
                <c:pt idx="14">
                  <c:v>8089</c:v>
                </c:pt>
                <c:pt idx="15">
                  <c:v>15706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0938120"/>
        <c:axId val="430938904"/>
      </c:lineChart>
      <c:catAx>
        <c:axId val="430938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938904"/>
        <c:crosses val="autoZero"/>
        <c:auto val="1"/>
        <c:lblAlgn val="ctr"/>
        <c:lblOffset val="100"/>
        <c:noMultiLvlLbl val="0"/>
      </c:catAx>
      <c:valAx>
        <c:axId val="430938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938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8.5510571551778061E-2"/>
          <c:y val="0.13159872594433883"/>
          <c:w val="0.82897863744443745"/>
          <c:h val="0.129799816565365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Sample.xlsx]Sheet4!PivotTable1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Sheet4!$K$3</c:f>
              <c:strCache>
                <c:ptCount val="1"/>
                <c:pt idx="0">
                  <c:v>Gross-Sales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Sheet4!$J$4:$J$40</c:f>
              <c:multiLvlStrCache>
                <c:ptCount val="30"/>
                <c:lvl>
                  <c:pt idx="0">
                    <c:v>Canada</c:v>
                  </c:pt>
                  <c:pt idx="1">
                    <c:v>France</c:v>
                  </c:pt>
                  <c:pt idx="2">
                    <c:v>Germany</c:v>
                  </c:pt>
                  <c:pt idx="3">
                    <c:v>Mexico</c:v>
                  </c:pt>
                  <c:pt idx="4">
                    <c:v>United States of America</c:v>
                  </c:pt>
                  <c:pt idx="5">
                    <c:v>Canada</c:v>
                  </c:pt>
                  <c:pt idx="6">
                    <c:v>France</c:v>
                  </c:pt>
                  <c:pt idx="7">
                    <c:v>Germany</c:v>
                  </c:pt>
                  <c:pt idx="8">
                    <c:v>Mexico</c:v>
                  </c:pt>
                  <c:pt idx="9">
                    <c:v>United States of America</c:v>
                  </c:pt>
                  <c:pt idx="10">
                    <c:v>Canada</c:v>
                  </c:pt>
                  <c:pt idx="11">
                    <c:v>France</c:v>
                  </c:pt>
                  <c:pt idx="12">
                    <c:v>Germany</c:v>
                  </c:pt>
                  <c:pt idx="13">
                    <c:v>Mexico</c:v>
                  </c:pt>
                  <c:pt idx="14">
                    <c:v>United States of America</c:v>
                  </c:pt>
                  <c:pt idx="15">
                    <c:v>Canada</c:v>
                  </c:pt>
                  <c:pt idx="16">
                    <c:v>France</c:v>
                  </c:pt>
                  <c:pt idx="17">
                    <c:v>Germany</c:v>
                  </c:pt>
                  <c:pt idx="18">
                    <c:v>Mexico</c:v>
                  </c:pt>
                  <c:pt idx="19">
                    <c:v>United States of America</c:v>
                  </c:pt>
                  <c:pt idx="20">
                    <c:v>Canada</c:v>
                  </c:pt>
                  <c:pt idx="21">
                    <c:v>France</c:v>
                  </c:pt>
                  <c:pt idx="22">
                    <c:v>Germany</c:v>
                  </c:pt>
                  <c:pt idx="23">
                    <c:v>Mexico</c:v>
                  </c:pt>
                  <c:pt idx="24">
                    <c:v>United States of America</c:v>
                  </c:pt>
                  <c:pt idx="25">
                    <c:v>Canada</c:v>
                  </c:pt>
                  <c:pt idx="26">
                    <c:v>France</c:v>
                  </c:pt>
                  <c:pt idx="27">
                    <c:v>Germany</c:v>
                  </c:pt>
                  <c:pt idx="28">
                    <c:v>Mexico</c:v>
                  </c:pt>
                  <c:pt idx="29">
                    <c:v>United States of America</c:v>
                  </c:pt>
                </c:lvl>
                <c:lvl>
                  <c:pt idx="0">
                    <c:v>Amarilla</c:v>
                  </c:pt>
                  <c:pt idx="5">
                    <c:v>Carretera</c:v>
                  </c:pt>
                  <c:pt idx="10">
                    <c:v>Montana</c:v>
                  </c:pt>
                  <c:pt idx="15">
                    <c:v>Paseo</c:v>
                  </c:pt>
                  <c:pt idx="20">
                    <c:v>Velo</c:v>
                  </c:pt>
                  <c:pt idx="25">
                    <c:v>VTT</c:v>
                  </c:pt>
                </c:lvl>
              </c:multiLvlStrCache>
            </c:multiLvlStrRef>
          </c:cat>
          <c:val>
            <c:numRef>
              <c:f>Sheet4!$K$4:$K$40</c:f>
              <c:numCache>
                <c:formatCode>General</c:formatCode>
                <c:ptCount val="30"/>
                <c:pt idx="0">
                  <c:v>4164683.5</c:v>
                </c:pt>
                <c:pt idx="1">
                  <c:v>4318664</c:v>
                </c:pt>
                <c:pt idx="2">
                  <c:v>4123204.5</c:v>
                </c:pt>
                <c:pt idx="3">
                  <c:v>3303196</c:v>
                </c:pt>
                <c:pt idx="4">
                  <c:v>3127531.5</c:v>
                </c:pt>
                <c:pt idx="5">
                  <c:v>2825853.5</c:v>
                </c:pt>
                <c:pt idx="6">
                  <c:v>3687829.5</c:v>
                </c:pt>
                <c:pt idx="7">
                  <c:v>3306376</c:v>
                </c:pt>
                <c:pt idx="8">
                  <c:v>3112011</c:v>
                </c:pt>
                <c:pt idx="9">
                  <c:v>2005450.5</c:v>
                </c:pt>
                <c:pt idx="10">
                  <c:v>2982114.5</c:v>
                </c:pt>
                <c:pt idx="11">
                  <c:v>3843216</c:v>
                </c:pt>
                <c:pt idx="12">
                  <c:v>3798355</c:v>
                </c:pt>
                <c:pt idx="13">
                  <c:v>2052575</c:v>
                </c:pt>
                <c:pt idx="14">
                  <c:v>3873574</c:v>
                </c:pt>
                <c:pt idx="15">
                  <c:v>8172612</c:v>
                </c:pt>
                <c:pt idx="16">
                  <c:v>5984767</c:v>
                </c:pt>
                <c:pt idx="17">
                  <c:v>5555838</c:v>
                </c:pt>
                <c:pt idx="18">
                  <c:v>8432206</c:v>
                </c:pt>
                <c:pt idx="19">
                  <c:v>7466239</c:v>
                </c:pt>
                <c:pt idx="20">
                  <c:v>3660387</c:v>
                </c:pt>
                <c:pt idx="21">
                  <c:v>4244434.5</c:v>
                </c:pt>
                <c:pt idx="22">
                  <c:v>4637903</c:v>
                </c:pt>
                <c:pt idx="23">
                  <c:v>2510373</c:v>
                </c:pt>
                <c:pt idx="24">
                  <c:v>4773671</c:v>
                </c:pt>
                <c:pt idx="25">
                  <c:v>5126513</c:v>
                </c:pt>
                <c:pt idx="26">
                  <c:v>4002763.5</c:v>
                </c:pt>
                <c:pt idx="27">
                  <c:v>3499791</c:v>
                </c:pt>
                <c:pt idx="28">
                  <c:v>3316574</c:v>
                </c:pt>
                <c:pt idx="29">
                  <c:v>6022892</c:v>
                </c:pt>
              </c:numCache>
            </c:numRef>
          </c:val>
        </c:ser>
        <c:ser>
          <c:idx val="1"/>
          <c:order val="1"/>
          <c:tx>
            <c:strRef>
              <c:f>Sheet4!$L$3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Sheet4!$J$4:$J$40</c:f>
              <c:multiLvlStrCache>
                <c:ptCount val="30"/>
                <c:lvl>
                  <c:pt idx="0">
                    <c:v>Canada</c:v>
                  </c:pt>
                  <c:pt idx="1">
                    <c:v>France</c:v>
                  </c:pt>
                  <c:pt idx="2">
                    <c:v>Germany</c:v>
                  </c:pt>
                  <c:pt idx="3">
                    <c:v>Mexico</c:v>
                  </c:pt>
                  <c:pt idx="4">
                    <c:v>United States of America</c:v>
                  </c:pt>
                  <c:pt idx="5">
                    <c:v>Canada</c:v>
                  </c:pt>
                  <c:pt idx="6">
                    <c:v>France</c:v>
                  </c:pt>
                  <c:pt idx="7">
                    <c:v>Germany</c:v>
                  </c:pt>
                  <c:pt idx="8">
                    <c:v>Mexico</c:v>
                  </c:pt>
                  <c:pt idx="9">
                    <c:v>United States of America</c:v>
                  </c:pt>
                  <c:pt idx="10">
                    <c:v>Canada</c:v>
                  </c:pt>
                  <c:pt idx="11">
                    <c:v>France</c:v>
                  </c:pt>
                  <c:pt idx="12">
                    <c:v>Germany</c:v>
                  </c:pt>
                  <c:pt idx="13">
                    <c:v>Mexico</c:v>
                  </c:pt>
                  <c:pt idx="14">
                    <c:v>United States of America</c:v>
                  </c:pt>
                  <c:pt idx="15">
                    <c:v>Canada</c:v>
                  </c:pt>
                  <c:pt idx="16">
                    <c:v>France</c:v>
                  </c:pt>
                  <c:pt idx="17">
                    <c:v>Germany</c:v>
                  </c:pt>
                  <c:pt idx="18">
                    <c:v>Mexico</c:v>
                  </c:pt>
                  <c:pt idx="19">
                    <c:v>United States of America</c:v>
                  </c:pt>
                  <c:pt idx="20">
                    <c:v>Canada</c:v>
                  </c:pt>
                  <c:pt idx="21">
                    <c:v>France</c:v>
                  </c:pt>
                  <c:pt idx="22">
                    <c:v>Germany</c:v>
                  </c:pt>
                  <c:pt idx="23">
                    <c:v>Mexico</c:v>
                  </c:pt>
                  <c:pt idx="24">
                    <c:v>United States of America</c:v>
                  </c:pt>
                  <c:pt idx="25">
                    <c:v>Canada</c:v>
                  </c:pt>
                  <c:pt idx="26">
                    <c:v>France</c:v>
                  </c:pt>
                  <c:pt idx="27">
                    <c:v>Germany</c:v>
                  </c:pt>
                  <c:pt idx="28">
                    <c:v>Mexico</c:v>
                  </c:pt>
                  <c:pt idx="29">
                    <c:v>United States of America</c:v>
                  </c:pt>
                </c:lvl>
                <c:lvl>
                  <c:pt idx="0">
                    <c:v>Amarilla</c:v>
                  </c:pt>
                  <c:pt idx="5">
                    <c:v>Carretera</c:v>
                  </c:pt>
                  <c:pt idx="10">
                    <c:v>Montana</c:v>
                  </c:pt>
                  <c:pt idx="15">
                    <c:v>Paseo</c:v>
                  </c:pt>
                  <c:pt idx="20">
                    <c:v>Velo</c:v>
                  </c:pt>
                  <c:pt idx="25">
                    <c:v>VTT</c:v>
                  </c:pt>
                </c:lvl>
              </c:multiLvlStrCache>
            </c:multiLvlStrRef>
          </c:cat>
          <c:val>
            <c:numRef>
              <c:f>Sheet4!$L$4:$L$40</c:f>
              <c:numCache>
                <c:formatCode>General</c:formatCode>
                <c:ptCount val="30"/>
                <c:pt idx="0">
                  <c:v>646861.375</c:v>
                </c:pt>
                <c:pt idx="1">
                  <c:v>667867.62999999989</c:v>
                </c:pt>
                <c:pt idx="2">
                  <c:v>612137.26</c:v>
                </c:pt>
                <c:pt idx="3">
                  <c:v>498611.39</c:v>
                </c:pt>
                <c:pt idx="4">
                  <c:v>388626.40499999997</c:v>
                </c:pt>
                <c:pt idx="5">
                  <c:v>436105.34</c:v>
                </c:pt>
                <c:pt idx="6">
                  <c:v>388864.89500000002</c:v>
                </c:pt>
                <c:pt idx="7">
                  <c:v>369674.67999999993</c:v>
                </c:pt>
                <c:pt idx="8">
                  <c:v>393668.42000000004</c:v>
                </c:pt>
                <c:pt idx="9">
                  <c:v>238491.55</c:v>
                </c:pt>
                <c:pt idx="10">
                  <c:v>321867.03000000003</c:v>
                </c:pt>
                <c:pt idx="11">
                  <c:v>461238.36999999994</c:v>
                </c:pt>
                <c:pt idx="12">
                  <c:v>559438.36999999988</c:v>
                </c:pt>
                <c:pt idx="13">
                  <c:v>337689.30999999994</c:v>
                </c:pt>
                <c:pt idx="14">
                  <c:v>434521.80000000005</c:v>
                </c:pt>
                <c:pt idx="15">
                  <c:v>1265017.9900000002</c:v>
                </c:pt>
                <c:pt idx="16">
                  <c:v>838748.56</c:v>
                </c:pt>
                <c:pt idx="17">
                  <c:v>744416.73999999976</c:v>
                </c:pt>
                <c:pt idx="18">
                  <c:v>928651.39</c:v>
                </c:pt>
                <c:pt idx="19">
                  <c:v>1020603.2700000001</c:v>
                </c:pt>
                <c:pt idx="20">
                  <c:v>370568.33999999997</c:v>
                </c:pt>
                <c:pt idx="21">
                  <c:v>707930.23499999999</c:v>
                </c:pt>
                <c:pt idx="22">
                  <c:v>788789</c:v>
                </c:pt>
                <c:pt idx="23">
                  <c:v>173303.89</c:v>
                </c:pt>
                <c:pt idx="24">
                  <c:v>265401</c:v>
                </c:pt>
                <c:pt idx="25">
                  <c:v>488808.81000000006</c:v>
                </c:pt>
                <c:pt idx="26">
                  <c:v>716371.0900000002</c:v>
                </c:pt>
                <c:pt idx="27">
                  <c:v>605932.7699999999</c:v>
                </c:pt>
                <c:pt idx="28">
                  <c:v>575598.71000000008</c:v>
                </c:pt>
                <c:pt idx="29">
                  <c:v>647896.6399999999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939688"/>
        <c:axId val="430940080"/>
      </c:barChart>
      <c:catAx>
        <c:axId val="430939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940080"/>
        <c:crosses val="autoZero"/>
        <c:auto val="1"/>
        <c:lblAlgn val="ctr"/>
        <c:lblOffset val="100"/>
        <c:noMultiLvlLbl val="0"/>
      </c:catAx>
      <c:valAx>
        <c:axId val="430940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939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Sample.xlsx]Sheet4!PivotTable2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Gross Sales by Product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Sheet4!$Z$3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Sheet4!$Y$4:$Y$10</c:f>
              <c:strCache>
                <c:ptCount val="6"/>
                <c:pt idx="0">
                  <c:v>Amarilla</c:v>
                </c:pt>
                <c:pt idx="1">
                  <c:v>Carretera</c:v>
                </c:pt>
                <c:pt idx="2">
                  <c:v>Montana</c:v>
                </c:pt>
                <c:pt idx="3">
                  <c:v>Paseo</c:v>
                </c:pt>
                <c:pt idx="4">
                  <c:v>Velo</c:v>
                </c:pt>
                <c:pt idx="5">
                  <c:v>VTT</c:v>
                </c:pt>
              </c:strCache>
            </c:strRef>
          </c:cat>
          <c:val>
            <c:numRef>
              <c:f>Sheet4!$Z$4:$Z$10</c:f>
              <c:numCache>
                <c:formatCode>General</c:formatCode>
                <c:ptCount val="6"/>
                <c:pt idx="0">
                  <c:v>19037279.5</c:v>
                </c:pt>
                <c:pt idx="1">
                  <c:v>14937520.5</c:v>
                </c:pt>
                <c:pt idx="2">
                  <c:v>16549834.5</c:v>
                </c:pt>
                <c:pt idx="3">
                  <c:v>35611662</c:v>
                </c:pt>
                <c:pt idx="4">
                  <c:v>19826768.5</c:v>
                </c:pt>
                <c:pt idx="5">
                  <c:v>21968533.5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30940864"/>
        <c:axId val="430941256"/>
      </c:barChart>
      <c:catAx>
        <c:axId val="4309408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941256"/>
        <c:crosses val="autoZero"/>
        <c:auto val="1"/>
        <c:lblAlgn val="ctr"/>
        <c:lblOffset val="100"/>
        <c:noMultiLvlLbl val="0"/>
      </c:catAx>
      <c:valAx>
        <c:axId val="430941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940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Sample.xlsx]Sheet4!PivotTable3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Profit</a:t>
            </a:r>
            <a:r>
              <a:rPr lang="en-US" baseline="0"/>
              <a:t> by Product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Sheet4!$Z$12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Sheet4!$Y$13:$Y$19</c:f>
              <c:strCache>
                <c:ptCount val="6"/>
                <c:pt idx="0">
                  <c:v>Amarilla</c:v>
                </c:pt>
                <c:pt idx="1">
                  <c:v>Carretera</c:v>
                </c:pt>
                <c:pt idx="2">
                  <c:v>Montana</c:v>
                </c:pt>
                <c:pt idx="3">
                  <c:v>Paseo</c:v>
                </c:pt>
                <c:pt idx="4">
                  <c:v>Velo</c:v>
                </c:pt>
                <c:pt idx="5">
                  <c:v>VTT</c:v>
                </c:pt>
              </c:strCache>
            </c:strRef>
          </c:cat>
          <c:val>
            <c:numRef>
              <c:f>Sheet4!$Z$13:$Z$19</c:f>
              <c:numCache>
                <c:formatCode>General</c:formatCode>
                <c:ptCount val="6"/>
                <c:pt idx="0">
                  <c:v>2814104.06</c:v>
                </c:pt>
                <c:pt idx="1">
                  <c:v>1826804.8849999998</c:v>
                </c:pt>
                <c:pt idx="2">
                  <c:v>2114754.8800000004</c:v>
                </c:pt>
                <c:pt idx="3">
                  <c:v>4797437.9499999993</c:v>
                </c:pt>
                <c:pt idx="4">
                  <c:v>2305992.4649999999</c:v>
                </c:pt>
                <c:pt idx="5">
                  <c:v>3034608.0200000005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[Financial Sample.xlsx]Sheet4!PivotTable4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Units Sold by Product and </a:t>
            </a:r>
            <a:r>
              <a:rPr lang="en-US" dirty="0" smtClean="0"/>
              <a:t>Segment 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Sheet4!$Z$21:$Z$22</c:f>
              <c:strCache>
                <c:ptCount val="1"/>
                <c:pt idx="0">
                  <c:v>Channel Partners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Sheet4!$Y$23:$Y$29</c:f>
              <c:strCache>
                <c:ptCount val="6"/>
                <c:pt idx="0">
                  <c:v>Amarilla</c:v>
                </c:pt>
                <c:pt idx="1">
                  <c:v>Carretera</c:v>
                </c:pt>
                <c:pt idx="2">
                  <c:v>Montana</c:v>
                </c:pt>
                <c:pt idx="3">
                  <c:v>Paseo</c:v>
                </c:pt>
                <c:pt idx="4">
                  <c:v>Velo</c:v>
                </c:pt>
                <c:pt idx="5">
                  <c:v>VTT</c:v>
                </c:pt>
              </c:strCache>
            </c:strRef>
          </c:cat>
          <c:val>
            <c:numRef>
              <c:f>Sheet4!$Z$23:$Z$29</c:f>
              <c:numCache>
                <c:formatCode>General</c:formatCode>
                <c:ptCount val="6"/>
                <c:pt idx="0">
                  <c:v>29191.5</c:v>
                </c:pt>
                <c:pt idx="1">
                  <c:v>24811</c:v>
                </c:pt>
                <c:pt idx="2">
                  <c:v>23129</c:v>
                </c:pt>
                <c:pt idx="3">
                  <c:v>40892</c:v>
                </c:pt>
                <c:pt idx="4">
                  <c:v>16219</c:v>
                </c:pt>
                <c:pt idx="5">
                  <c:v>27021</c:v>
                </c:pt>
              </c:numCache>
            </c:numRef>
          </c:val>
        </c:ser>
        <c:ser>
          <c:idx val="1"/>
          <c:order val="1"/>
          <c:tx>
            <c:strRef>
              <c:f>Sheet4!$AA$21:$AA$22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Sheet4!$Y$23:$Y$29</c:f>
              <c:strCache>
                <c:ptCount val="6"/>
                <c:pt idx="0">
                  <c:v>Amarilla</c:v>
                </c:pt>
                <c:pt idx="1">
                  <c:v>Carretera</c:v>
                </c:pt>
                <c:pt idx="2">
                  <c:v>Montana</c:v>
                </c:pt>
                <c:pt idx="3">
                  <c:v>Paseo</c:v>
                </c:pt>
                <c:pt idx="4">
                  <c:v>Velo</c:v>
                </c:pt>
                <c:pt idx="5">
                  <c:v>VTT</c:v>
                </c:pt>
              </c:strCache>
            </c:strRef>
          </c:cat>
          <c:val>
            <c:numRef>
              <c:f>Sheet4!$AA$23:$AA$29</c:f>
              <c:numCache>
                <c:formatCode>General</c:formatCode>
                <c:ptCount val="6"/>
                <c:pt idx="0">
                  <c:v>22823</c:v>
                </c:pt>
                <c:pt idx="1">
                  <c:v>28553.5</c:v>
                </c:pt>
                <c:pt idx="2">
                  <c:v>22049.5</c:v>
                </c:pt>
                <c:pt idx="3">
                  <c:v>44580</c:v>
                </c:pt>
                <c:pt idx="4">
                  <c:v>30550</c:v>
                </c:pt>
                <c:pt idx="5">
                  <c:v>19996</c:v>
                </c:pt>
              </c:numCache>
            </c:numRef>
          </c:val>
        </c:ser>
        <c:ser>
          <c:idx val="2"/>
          <c:order val="2"/>
          <c:tx>
            <c:strRef>
              <c:f>Sheet4!$AB$21:$AB$22</c:f>
              <c:strCache>
                <c:ptCount val="1"/>
                <c:pt idx="0">
                  <c:v>Government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Sheet4!$Y$23:$Y$29</c:f>
              <c:strCache>
                <c:ptCount val="6"/>
                <c:pt idx="0">
                  <c:v>Amarilla</c:v>
                </c:pt>
                <c:pt idx="1">
                  <c:v>Carretera</c:v>
                </c:pt>
                <c:pt idx="2">
                  <c:v>Montana</c:v>
                </c:pt>
                <c:pt idx="3">
                  <c:v>Paseo</c:v>
                </c:pt>
                <c:pt idx="4">
                  <c:v>Velo</c:v>
                </c:pt>
                <c:pt idx="5">
                  <c:v>VTT</c:v>
                </c:pt>
              </c:strCache>
            </c:strRef>
          </c:cat>
          <c:val>
            <c:numRef>
              <c:f>Sheet4!$AB$23:$AB$29</c:f>
              <c:numCache>
                <c:formatCode>General</c:formatCode>
                <c:ptCount val="6"/>
                <c:pt idx="0">
                  <c:v>68044.5</c:v>
                </c:pt>
                <c:pt idx="1">
                  <c:v>54911.5</c:v>
                </c:pt>
                <c:pt idx="2">
                  <c:v>64657</c:v>
                </c:pt>
                <c:pt idx="3">
                  <c:v>146798.5</c:v>
                </c:pt>
                <c:pt idx="4">
                  <c:v>72163.5</c:v>
                </c:pt>
                <c:pt idx="5">
                  <c:v>64098.5</c:v>
                </c:pt>
              </c:numCache>
            </c:numRef>
          </c:val>
        </c:ser>
        <c:ser>
          <c:idx val="3"/>
          <c:order val="3"/>
          <c:tx>
            <c:strRef>
              <c:f>Sheet4!$AC$21:$AC$22</c:f>
              <c:strCache>
                <c:ptCount val="1"/>
                <c:pt idx="0">
                  <c:v>Midmarket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Sheet4!$Y$23:$Y$29</c:f>
              <c:strCache>
                <c:ptCount val="6"/>
                <c:pt idx="0">
                  <c:v>Amarilla</c:v>
                </c:pt>
                <c:pt idx="1">
                  <c:v>Carretera</c:v>
                </c:pt>
                <c:pt idx="2">
                  <c:v>Montana</c:v>
                </c:pt>
                <c:pt idx="3">
                  <c:v>Paseo</c:v>
                </c:pt>
                <c:pt idx="4">
                  <c:v>Velo</c:v>
                </c:pt>
                <c:pt idx="5">
                  <c:v>VTT</c:v>
                </c:pt>
              </c:strCache>
            </c:strRef>
          </c:cat>
          <c:val>
            <c:numRef>
              <c:f>Sheet4!$AC$23:$AC$29</c:f>
              <c:numCache>
                <c:formatCode>General</c:formatCode>
                <c:ptCount val="6"/>
                <c:pt idx="0">
                  <c:v>18508</c:v>
                </c:pt>
                <c:pt idx="1">
                  <c:v>24320</c:v>
                </c:pt>
                <c:pt idx="2">
                  <c:v>20636</c:v>
                </c:pt>
                <c:pt idx="3">
                  <c:v>64899</c:v>
                </c:pt>
                <c:pt idx="4">
                  <c:v>19584.5</c:v>
                </c:pt>
                <c:pt idx="5">
                  <c:v>24230.5</c:v>
                </c:pt>
              </c:numCache>
            </c:numRef>
          </c:val>
        </c:ser>
        <c:ser>
          <c:idx val="4"/>
          <c:order val="4"/>
          <c:tx>
            <c:strRef>
              <c:f>Sheet4!$AD$21:$AD$22</c:f>
              <c:strCache>
                <c:ptCount val="1"/>
                <c:pt idx="0">
                  <c:v>Small Business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Sheet4!$Y$23:$Y$29</c:f>
              <c:strCache>
                <c:ptCount val="6"/>
                <c:pt idx="0">
                  <c:v>Amarilla</c:v>
                </c:pt>
                <c:pt idx="1">
                  <c:v>Carretera</c:v>
                </c:pt>
                <c:pt idx="2">
                  <c:v>Montana</c:v>
                </c:pt>
                <c:pt idx="3">
                  <c:v>Paseo</c:v>
                </c:pt>
                <c:pt idx="4">
                  <c:v>Velo</c:v>
                </c:pt>
                <c:pt idx="5">
                  <c:v>VTT</c:v>
                </c:pt>
              </c:strCache>
            </c:strRef>
          </c:cat>
          <c:val>
            <c:numRef>
              <c:f>Sheet4!$AD$23:$AD$29</c:f>
              <c:numCache>
                <c:formatCode>General</c:formatCode>
                <c:ptCount val="6"/>
                <c:pt idx="0">
                  <c:v>16748</c:v>
                </c:pt>
                <c:pt idx="1">
                  <c:v>14250</c:v>
                </c:pt>
                <c:pt idx="2">
                  <c:v>23726.5</c:v>
                </c:pt>
                <c:pt idx="3">
                  <c:v>41070</c:v>
                </c:pt>
                <c:pt idx="4">
                  <c:v>23907.5</c:v>
                </c:pt>
                <c:pt idx="5">
                  <c:v>33437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431621208"/>
        <c:axId val="431620816"/>
      </c:barChart>
      <c:catAx>
        <c:axId val="431621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1620816"/>
        <c:crosses val="autoZero"/>
        <c:auto val="1"/>
        <c:lblAlgn val="ctr"/>
        <c:lblOffset val="100"/>
        <c:noMultiLvlLbl val="0"/>
      </c:catAx>
      <c:valAx>
        <c:axId val="43162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1621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32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16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90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5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80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50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6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94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2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64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7801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039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6811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41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30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2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D104E-6815-47AB-B558-6812E83572E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0325D9A-2CF8-442A-8A74-D313126D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75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o.microsoft.com/fwlink/?LinkID=52196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Financial Sample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892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31161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496785"/>
            <a:ext cx="8915400" cy="4112079"/>
          </a:xfrm>
        </p:spPr>
        <p:txBody>
          <a:bodyPr>
            <a:noAutofit/>
          </a:bodyPr>
          <a:lstStyle/>
          <a:p>
            <a:r>
              <a:rPr lang="en-US" sz="1200" dirty="0"/>
              <a:t>Dataset Name: Financial Sample Dataset</a:t>
            </a:r>
          </a:p>
          <a:p>
            <a:r>
              <a:rPr lang="en-US" sz="1200" dirty="0"/>
              <a:t>Data Source: </a:t>
            </a:r>
            <a:r>
              <a:rPr lang="en-US" sz="1200" dirty="0">
                <a:hlinkClick r:id="rId2"/>
              </a:rPr>
              <a:t>https://go.microsoft.com/fwlink/?</a:t>
            </a:r>
            <a:r>
              <a:rPr lang="en-US" sz="1200" dirty="0" smtClean="0">
                <a:hlinkClick r:id="rId2"/>
              </a:rPr>
              <a:t>LinkID=521962</a:t>
            </a:r>
            <a:r>
              <a:rPr lang="en-US" sz="1200" dirty="0" smtClean="0"/>
              <a:t> </a:t>
            </a:r>
            <a:endParaRPr lang="en-US" sz="1200" dirty="0"/>
          </a:p>
          <a:p>
            <a:r>
              <a:rPr lang="en-US" sz="1200" dirty="0"/>
              <a:t>Data Structure:</a:t>
            </a:r>
          </a:p>
          <a:p>
            <a:pPr marL="0" indent="0">
              <a:buNone/>
            </a:pPr>
            <a:r>
              <a:rPr lang="en-US" sz="1200" dirty="0" smtClean="0"/>
              <a:t>	Number </a:t>
            </a:r>
            <a:r>
              <a:rPr lang="en-US" sz="1200" dirty="0"/>
              <a:t>of rows: 700</a:t>
            </a:r>
          </a:p>
          <a:p>
            <a:pPr marL="0" indent="0">
              <a:buNone/>
            </a:pPr>
            <a:r>
              <a:rPr lang="en-US" sz="1200" dirty="0" smtClean="0"/>
              <a:t>	Number </a:t>
            </a:r>
            <a:r>
              <a:rPr lang="en-US" sz="1200" dirty="0"/>
              <a:t>of Columns: 16</a:t>
            </a:r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/>
              <a:t>Text-data </a:t>
            </a:r>
            <a:r>
              <a:rPr lang="en-US" sz="1200" dirty="0" smtClean="0"/>
              <a:t>type: Country</a:t>
            </a:r>
            <a:r>
              <a:rPr lang="en-US" sz="1200" dirty="0"/>
              <a:t>, product, Month Name: </a:t>
            </a:r>
            <a:r>
              <a:rPr lang="en-US" sz="1200" dirty="0" smtClean="0"/>
              <a:t>		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smtClean="0"/>
              <a:t>	</a:t>
            </a:r>
            <a:r>
              <a:rPr lang="en-US" sz="1200" dirty="0"/>
              <a:t> Whole Number-data </a:t>
            </a:r>
            <a:r>
              <a:rPr lang="en-US" sz="1200" dirty="0" smtClean="0"/>
              <a:t>type: Units </a:t>
            </a:r>
            <a:r>
              <a:rPr lang="en-US" sz="1200" dirty="0"/>
              <a:t>sold, Month Number, </a:t>
            </a:r>
            <a:r>
              <a:rPr lang="en-US" sz="1200" dirty="0" smtClean="0"/>
              <a:t>Year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/>
              <a:t> </a:t>
            </a:r>
            <a:r>
              <a:rPr lang="en-US" sz="1200" dirty="0" smtClean="0"/>
              <a:t>Currency-data type: Manufacturer </a:t>
            </a:r>
            <a:r>
              <a:rPr lang="en-US" sz="1200" dirty="0"/>
              <a:t>price, Sale price, Gross sale, Discount, sales, COGS, </a:t>
            </a:r>
            <a:r>
              <a:rPr lang="en-US" sz="1200" dirty="0" smtClean="0"/>
              <a:t>Profit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 smtClean="0"/>
              <a:t>		</a:t>
            </a:r>
            <a:r>
              <a:rPr lang="en-US" sz="1200" dirty="0"/>
              <a:t> Date-data </a:t>
            </a:r>
            <a:r>
              <a:rPr lang="en-US" sz="1200" dirty="0" smtClean="0"/>
              <a:t>type: Date</a:t>
            </a:r>
            <a:endParaRPr lang="en-US" sz="1200" dirty="0"/>
          </a:p>
          <a:p>
            <a:r>
              <a:rPr lang="en-US" sz="1200" dirty="0"/>
              <a:t>key Features: </a:t>
            </a:r>
            <a:endParaRPr lang="en-US" sz="1200" dirty="0" smtClean="0"/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smtClean="0"/>
              <a:t>Segment</a:t>
            </a:r>
            <a:r>
              <a:rPr lang="en-US" sz="1200" dirty="0"/>
              <a:t>, Country, Product, Discount Band, Date</a:t>
            </a:r>
          </a:p>
          <a:p>
            <a:r>
              <a:rPr lang="en-US" sz="1200" dirty="0"/>
              <a:t>Added </a:t>
            </a:r>
            <a:r>
              <a:rPr lang="en-US" sz="1200" dirty="0" smtClean="0"/>
              <a:t>Feature: </a:t>
            </a:r>
          </a:p>
          <a:p>
            <a:pPr marL="0" indent="0">
              <a:buNone/>
            </a:pPr>
            <a:r>
              <a:rPr lang="en-US" sz="1200" dirty="0"/>
              <a:t>	</a:t>
            </a:r>
            <a:r>
              <a:rPr lang="en-US" sz="1200" dirty="0" smtClean="0"/>
              <a:t>Markup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650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80147"/>
          </a:xfrm>
        </p:spPr>
        <p:txBody>
          <a:bodyPr/>
          <a:lstStyle/>
          <a:p>
            <a:r>
              <a:rPr lang="en-US" dirty="0"/>
              <a:t>Research 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29492"/>
            <a:ext cx="8915400" cy="3777622"/>
          </a:xfrm>
        </p:spPr>
        <p:txBody>
          <a:bodyPr/>
          <a:lstStyle/>
          <a:p>
            <a:r>
              <a:rPr lang="en-US" dirty="0" smtClean="0"/>
              <a:t>How </a:t>
            </a:r>
            <a:r>
              <a:rPr lang="en-US" dirty="0"/>
              <a:t>does the discount policy affect demand and revenue?</a:t>
            </a:r>
          </a:p>
          <a:p>
            <a:r>
              <a:rPr lang="en-US" dirty="0" smtClean="0"/>
              <a:t>What </a:t>
            </a:r>
            <a:r>
              <a:rPr lang="en-US" dirty="0"/>
              <a:t>segment and country is driving revenue and profit?</a:t>
            </a:r>
          </a:p>
          <a:p>
            <a:r>
              <a:rPr lang="en-US" dirty="0" smtClean="0"/>
              <a:t>What </a:t>
            </a:r>
            <a:r>
              <a:rPr lang="en-US" dirty="0"/>
              <a:t>is the revenue pattern by product? Which products are our high net products?</a:t>
            </a:r>
          </a:p>
          <a:p>
            <a:r>
              <a:rPr lang="en-US" dirty="0" smtClean="0"/>
              <a:t>Is </a:t>
            </a:r>
            <a:r>
              <a:rPr lang="en-US" dirty="0"/>
              <a:t>there any seasonal pattern in sales?</a:t>
            </a:r>
          </a:p>
        </p:txBody>
      </p:sp>
    </p:spTree>
    <p:extLst>
      <p:ext uri="{BB962C8B-B14F-4D97-AF65-F5344CB8AC3E}">
        <p14:creationId xmlns:p14="http://schemas.microsoft.com/office/powerpoint/2010/main" val="69048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78119"/>
          </a:xfrm>
        </p:spPr>
        <p:txBody>
          <a:bodyPr/>
          <a:lstStyle/>
          <a:p>
            <a:r>
              <a:rPr lang="en-US" dirty="0"/>
              <a:t>Data Cleaning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Removed duplicate columns: Sales columns</a:t>
            </a:r>
          </a:p>
          <a:p>
            <a:r>
              <a:rPr lang="en-US" dirty="0" smtClean="0"/>
              <a:t>Removed invalid entries: </a:t>
            </a:r>
            <a:r>
              <a:rPr lang="en-US" dirty="0"/>
              <a:t>Discount &amp; Profit columns contain non-numeric </a:t>
            </a:r>
            <a:r>
              <a:rPr lang="en-US" dirty="0" smtClean="0"/>
              <a:t>entries</a:t>
            </a:r>
            <a:endParaRPr lang="en-US" dirty="0"/>
          </a:p>
          <a:p>
            <a:r>
              <a:rPr lang="en-US" dirty="0" smtClean="0"/>
              <a:t>Replaced inconsistent entries: Unit </a:t>
            </a:r>
            <a:r>
              <a:rPr lang="en-US" dirty="0"/>
              <a:t>sold column contains decimal </a:t>
            </a:r>
            <a:r>
              <a:rPr lang="en-US" dirty="0" smtClean="0"/>
              <a:t>entries</a:t>
            </a:r>
            <a:endParaRPr lang="en-US" dirty="0"/>
          </a:p>
          <a:p>
            <a:r>
              <a:rPr lang="en-US" dirty="0" smtClean="0"/>
              <a:t>Renamed column: Sales </a:t>
            </a:r>
            <a:r>
              <a:rPr lang="en-US" dirty="0"/>
              <a:t>price is renamed to unit sales </a:t>
            </a:r>
            <a:r>
              <a:rPr lang="en-US" dirty="0" smtClean="0"/>
              <a:t>price</a:t>
            </a:r>
          </a:p>
          <a:p>
            <a:r>
              <a:rPr lang="en-US" dirty="0" smtClean="0"/>
              <a:t>Added Mark up column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998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Analysis and Visuals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0278400"/>
              </p:ext>
            </p:extLst>
          </p:nvPr>
        </p:nvGraphicFramePr>
        <p:xfrm>
          <a:off x="2589212" y="2310493"/>
          <a:ext cx="45186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2589212" y="14872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How does the discount policy affect demand and revenue?</a:t>
            </a:r>
            <a:endParaRPr lang="en-US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3592975"/>
              </p:ext>
            </p:extLst>
          </p:nvPr>
        </p:nvGraphicFramePr>
        <p:xfrm>
          <a:off x="7107872" y="2310493"/>
          <a:ext cx="3750628" cy="2659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22177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Analysis and Visuals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89212" y="14872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What segment and country is driving revenue and profit?</a:t>
            </a:r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3501982"/>
              </p:ext>
            </p:extLst>
          </p:nvPr>
        </p:nvGraphicFramePr>
        <p:xfrm>
          <a:off x="2376352" y="2288721"/>
          <a:ext cx="5126628" cy="3687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7604885"/>
              </p:ext>
            </p:extLst>
          </p:nvPr>
        </p:nvGraphicFramePr>
        <p:xfrm>
          <a:off x="8088630" y="2288721"/>
          <a:ext cx="3210742" cy="1992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0260565"/>
              </p:ext>
            </p:extLst>
          </p:nvPr>
        </p:nvGraphicFramePr>
        <p:xfrm>
          <a:off x="8088630" y="4376056"/>
          <a:ext cx="3210742" cy="2016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008881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Analysis and Visuals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89212" y="14872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What segment and country is driving revenue and profit?</a:t>
            </a:r>
            <a:endParaRPr lang="en-US"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6902446"/>
              </p:ext>
            </p:extLst>
          </p:nvPr>
        </p:nvGraphicFramePr>
        <p:xfrm>
          <a:off x="2392136" y="2386693"/>
          <a:ext cx="4908957" cy="4161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1835239"/>
              </p:ext>
            </p:extLst>
          </p:nvPr>
        </p:nvGraphicFramePr>
        <p:xfrm>
          <a:off x="7916091" y="2264229"/>
          <a:ext cx="2672988" cy="2065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9770254"/>
              </p:ext>
            </p:extLst>
          </p:nvPr>
        </p:nvGraphicFramePr>
        <p:xfrm>
          <a:off x="7916091" y="4329793"/>
          <a:ext cx="2672988" cy="2217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58425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Analysis and Visuals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89212" y="148726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Is there any seasonal pattern in sales?</a:t>
            </a:r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473229"/>
              </p:ext>
            </p:extLst>
          </p:nvPr>
        </p:nvGraphicFramePr>
        <p:xfrm>
          <a:off x="2589212" y="2014903"/>
          <a:ext cx="4358595" cy="3104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2409210"/>
              </p:ext>
            </p:extLst>
          </p:nvPr>
        </p:nvGraphicFramePr>
        <p:xfrm>
          <a:off x="6947806" y="2014902"/>
          <a:ext cx="4556805" cy="3104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21226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Analysis and Visuals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2925" y="133214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What is the revenue pattern by product? Which products are our high net products?</a:t>
            </a:r>
            <a:endParaRPr lang="en-US"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8385482"/>
              </p:ext>
            </p:extLst>
          </p:nvPr>
        </p:nvGraphicFramePr>
        <p:xfrm>
          <a:off x="2121083" y="2194558"/>
          <a:ext cx="6222817" cy="4214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3898077"/>
              </p:ext>
            </p:extLst>
          </p:nvPr>
        </p:nvGraphicFramePr>
        <p:xfrm>
          <a:off x="8449536" y="1557123"/>
          <a:ext cx="3055076" cy="24220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413397"/>
              </p:ext>
            </p:extLst>
          </p:nvPr>
        </p:nvGraphicFramePr>
        <p:xfrm>
          <a:off x="8343900" y="3978184"/>
          <a:ext cx="3089366" cy="2430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51869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Analysis and Visuals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2925" y="133214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What is the revenue pattern by product? Which products are our high net products?</a:t>
            </a:r>
            <a:endParaRPr lang="en-US" dirty="0"/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9245327"/>
              </p:ext>
            </p:extLst>
          </p:nvPr>
        </p:nvGraphicFramePr>
        <p:xfrm>
          <a:off x="2592925" y="2334984"/>
          <a:ext cx="6330640" cy="3788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89201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89212" y="1487269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/>
              <a:t>How does the discount policy affect demand and revenue?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Discount is observed to </a:t>
            </a:r>
            <a:r>
              <a:rPr lang="en-US" sz="1200" dirty="0" smtClean="0"/>
              <a:t>have direct </a:t>
            </a:r>
            <a:r>
              <a:rPr lang="en-US" sz="1200" dirty="0" smtClean="0"/>
              <a:t>impact on sales </a:t>
            </a:r>
          </a:p>
          <a:p>
            <a:endParaRPr lang="en-US" sz="1200" dirty="0"/>
          </a:p>
          <a:p>
            <a:r>
              <a:rPr lang="en-US" sz="1200" dirty="0" smtClean="0"/>
              <a:t>What segment and country is driving revenue and profit?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Government and Small Businesses are the segment driving sales (44% vs 36%) and profits (63% vs 23%) respectively.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Sales is relatively evenly distributed across countries.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At country level, Enterprise segment is a loss deal across all countries.</a:t>
            </a:r>
          </a:p>
          <a:p>
            <a:endParaRPr lang="en-US" sz="1200" dirty="0"/>
          </a:p>
          <a:p>
            <a:r>
              <a:rPr lang="en-US" sz="1200" dirty="0" smtClean="0"/>
              <a:t>Is there any seasonal pattern in sales?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There is no sufficient data to assess seasonality, however, surge in sales in September and June suggests these </a:t>
            </a:r>
            <a:r>
              <a:rPr lang="en-US" sz="1200" smtClean="0"/>
              <a:t>two </a:t>
            </a:r>
            <a:r>
              <a:rPr lang="en-US" sz="1200" smtClean="0"/>
              <a:t>months </a:t>
            </a:r>
            <a:r>
              <a:rPr lang="en-US" sz="1200" dirty="0" smtClean="0"/>
              <a:t>as peak months.</a:t>
            </a:r>
          </a:p>
          <a:p>
            <a:endParaRPr lang="en-US" sz="1200" dirty="0" smtClean="0"/>
          </a:p>
          <a:p>
            <a:r>
              <a:rPr lang="en-US" sz="1200" dirty="0" smtClean="0"/>
              <a:t>What is the revenue pattern by product? Which products are our high net products?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28% of total profits and gross sales is accredited to “Paseo” product. It is seen to be the highest selling product across all countries.</a:t>
            </a:r>
          </a:p>
          <a:p>
            <a:endParaRPr lang="en-US" sz="1200" dirty="0"/>
          </a:p>
          <a:p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144864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141</TotalTime>
  <Words>427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Financial Sample Analysis</vt:lpstr>
      <vt:lpstr>Dataset Overview</vt:lpstr>
      <vt:lpstr>Research Questions:</vt:lpstr>
      <vt:lpstr>Data Cleaning Summary</vt:lpstr>
      <vt:lpstr>Key Analysis and Visuals</vt:lpstr>
      <vt:lpstr>Key Analysis and Visuals</vt:lpstr>
      <vt:lpstr>Key Analysis and Visuals</vt:lpstr>
      <vt:lpstr>Key Analysis and Visuals</vt:lpstr>
      <vt:lpstr>Key Analysis and Visuals</vt:lpstr>
      <vt:lpstr>Key Analysis and Visuals</vt:lpstr>
      <vt:lpstr>Insights and Conclusions</vt:lpstr>
    </vt:vector>
  </TitlesOfParts>
  <Company>GrandMEAN Research and Analytics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26</cp:revision>
  <dcterms:created xsi:type="dcterms:W3CDTF">2025-10-18T17:49:24Z</dcterms:created>
  <dcterms:modified xsi:type="dcterms:W3CDTF">2025-10-18T20:27:10Z</dcterms:modified>
</cp:coreProperties>
</file>